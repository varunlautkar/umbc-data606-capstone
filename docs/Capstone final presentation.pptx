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8" r:id="rId6"/>
    <p:sldId id="269" r:id="rId7"/>
    <p:sldId id="259" r:id="rId8"/>
    <p:sldId id="262" r:id="rId9"/>
    <p:sldId id="261" r:id="rId10"/>
    <p:sldId id="264" r:id="rId11"/>
    <p:sldId id="265" r:id="rId12"/>
    <p:sldId id="266" r:id="rId13"/>
    <p:sldId id="267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D4F2A5-D425-4243-8AD4-33411854672E}" v="42" dt="2026-05-10T19:09:13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50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 Lautkar" userId="260503ff43b0b037" providerId="LiveId" clId="{1DCAB7C1-41F7-483C-8E5D-5F0454D90571}"/>
    <pc:docChg chg="undo custSel addSld delSld modSld sldOrd">
      <pc:chgData name="Varun Lautkar" userId="260503ff43b0b037" providerId="LiveId" clId="{1DCAB7C1-41F7-483C-8E5D-5F0454D90571}" dt="2026-05-10T19:10:50.045" v="482" actId="255"/>
      <pc:docMkLst>
        <pc:docMk/>
      </pc:docMkLst>
      <pc:sldChg chg="addSp delSp modSp mod">
        <pc:chgData name="Varun Lautkar" userId="260503ff43b0b037" providerId="LiveId" clId="{1DCAB7C1-41F7-483C-8E5D-5F0454D90571}" dt="2026-04-23T21:20:02.339" v="105" actId="20577"/>
        <pc:sldMkLst>
          <pc:docMk/>
          <pc:sldMk cId="0" sldId="256"/>
        </pc:sldMkLst>
        <pc:spChg chg="mod">
          <ac:chgData name="Varun Lautkar" userId="260503ff43b0b037" providerId="LiveId" clId="{1DCAB7C1-41F7-483C-8E5D-5F0454D90571}" dt="2026-04-23T21:16:19.738" v="40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Varun Lautkar" userId="260503ff43b0b037" providerId="LiveId" clId="{1DCAB7C1-41F7-483C-8E5D-5F0454D90571}" dt="2026-04-23T21:16:20.567" v="41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Varun Lautkar" userId="260503ff43b0b037" providerId="LiveId" clId="{1DCAB7C1-41F7-483C-8E5D-5F0454D90571}" dt="2026-04-23T21:15:58.030" v="37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Varun Lautkar" userId="260503ff43b0b037" providerId="LiveId" clId="{1DCAB7C1-41F7-483C-8E5D-5F0454D90571}" dt="2026-04-23T21:15:42.304" v="35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Varun Lautkar" userId="260503ff43b0b037" providerId="LiveId" clId="{1DCAB7C1-41F7-483C-8E5D-5F0454D90571}" dt="2026-04-23T21:15:37.933" v="34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Varun Lautkar" userId="260503ff43b0b037" providerId="LiveId" clId="{1DCAB7C1-41F7-483C-8E5D-5F0454D90571}" dt="2026-04-23T21:20:02.339" v="105" actId="20577"/>
          <ac:spMkLst>
            <pc:docMk/>
            <pc:sldMk cId="0" sldId="256"/>
            <ac:spMk id="21" creationId="{00000000-0000-0000-0000-000000000000}"/>
          </ac:spMkLst>
        </pc:spChg>
        <pc:picChg chg="add mod">
          <ac:chgData name="Varun Lautkar" userId="260503ff43b0b037" providerId="LiveId" clId="{1DCAB7C1-41F7-483C-8E5D-5F0454D90571}" dt="2026-04-23T21:15:26.306" v="33" actId="14100"/>
          <ac:picMkLst>
            <pc:docMk/>
            <pc:sldMk cId="0" sldId="256"/>
            <ac:picMk id="27" creationId="{F5374216-E21D-6DB9-B414-9A82A67F55AB}"/>
          </ac:picMkLst>
        </pc:picChg>
      </pc:sldChg>
      <pc:sldChg chg="delSp modSp mod">
        <pc:chgData name="Varun Lautkar" userId="260503ff43b0b037" providerId="LiveId" clId="{1DCAB7C1-41F7-483C-8E5D-5F0454D90571}" dt="2026-04-23T21:29:03.496" v="206"/>
        <pc:sldMkLst>
          <pc:docMk/>
          <pc:sldMk cId="0" sldId="258"/>
        </pc:sldMkLst>
      </pc:sldChg>
      <pc:sldChg chg="modSp mod ord">
        <pc:chgData name="Varun Lautkar" userId="260503ff43b0b037" providerId="LiveId" clId="{1DCAB7C1-41F7-483C-8E5D-5F0454D90571}" dt="2026-04-23T21:37:18.140" v="208"/>
        <pc:sldMkLst>
          <pc:docMk/>
          <pc:sldMk cId="0" sldId="259"/>
        </pc:sldMkLst>
        <pc:spChg chg="mod">
          <ac:chgData name="Varun Lautkar" userId="260503ff43b0b037" providerId="LiveId" clId="{1DCAB7C1-41F7-483C-8E5D-5F0454D90571}" dt="2026-04-23T21:28:41.087" v="199" actId="20577"/>
          <ac:spMkLst>
            <pc:docMk/>
            <pc:sldMk cId="0" sldId="259"/>
            <ac:spMk id="34" creationId="{00000000-0000-0000-0000-000000000000}"/>
          </ac:spMkLst>
        </pc:spChg>
      </pc:sldChg>
      <pc:sldChg chg="addSp modSp mod ord">
        <pc:chgData name="Varun Lautkar" userId="260503ff43b0b037" providerId="LiveId" clId="{1DCAB7C1-41F7-483C-8E5D-5F0454D90571}" dt="2026-05-10T19:10:50.045" v="482" actId="255"/>
        <pc:sldMkLst>
          <pc:docMk/>
          <pc:sldMk cId="0" sldId="261"/>
        </pc:sldMkLst>
        <pc:spChg chg="mod">
          <ac:chgData name="Varun Lautkar" userId="260503ff43b0b037" providerId="LiveId" clId="{1DCAB7C1-41F7-483C-8E5D-5F0454D90571}" dt="2026-05-10T19:10:50.045" v="482" actId="255"/>
          <ac:spMkLst>
            <pc:docMk/>
            <pc:sldMk cId="0" sldId="261"/>
            <ac:spMk id="5" creationId="{00000000-0000-0000-0000-000000000000}"/>
          </ac:spMkLst>
        </pc:spChg>
        <pc:picChg chg="add mod">
          <ac:chgData name="Varun Lautkar" userId="260503ff43b0b037" providerId="LiveId" clId="{1DCAB7C1-41F7-483C-8E5D-5F0454D90571}" dt="2026-04-23T21:28:06.838" v="197" actId="14100"/>
          <ac:picMkLst>
            <pc:docMk/>
            <pc:sldMk cId="0" sldId="261"/>
            <ac:picMk id="63" creationId="{9AC4E446-92ED-777F-B76E-4224BB02BFB5}"/>
          </ac:picMkLst>
        </pc:picChg>
        <pc:picChg chg="add mod">
          <ac:chgData name="Varun Lautkar" userId="260503ff43b0b037" providerId="LiveId" clId="{1DCAB7C1-41F7-483C-8E5D-5F0454D90571}" dt="2026-05-10T19:07:43.179" v="472" actId="14100"/>
          <ac:picMkLst>
            <pc:docMk/>
            <pc:sldMk cId="0" sldId="261"/>
            <ac:picMk id="65" creationId="{058C5626-BC05-5831-9C8A-9C1F5DFB07EA}"/>
          </ac:picMkLst>
        </pc:picChg>
      </pc:sldChg>
      <pc:sldChg chg="addSp modSp mod">
        <pc:chgData name="Varun Lautkar" userId="260503ff43b0b037" providerId="LiveId" clId="{1DCAB7C1-41F7-483C-8E5D-5F0454D90571}" dt="2026-04-23T21:57:24.207" v="362" actId="14100"/>
        <pc:sldMkLst>
          <pc:docMk/>
          <pc:sldMk cId="0" sldId="262"/>
        </pc:sldMkLst>
        <pc:spChg chg="mod">
          <ac:chgData name="Varun Lautkar" userId="260503ff43b0b037" providerId="LiveId" clId="{1DCAB7C1-41F7-483C-8E5D-5F0454D90571}" dt="2026-04-23T21:57:20.018" v="361" actId="14100"/>
          <ac:spMkLst>
            <pc:docMk/>
            <pc:sldMk cId="0" sldId="262"/>
            <ac:spMk id="18" creationId="{00000000-0000-0000-0000-000000000000}"/>
          </ac:spMkLst>
        </pc:spChg>
        <pc:spChg chg="mod">
          <ac:chgData name="Varun Lautkar" userId="260503ff43b0b037" providerId="LiveId" clId="{1DCAB7C1-41F7-483C-8E5D-5F0454D90571}" dt="2026-04-23T21:57:24.207" v="362" actId="14100"/>
          <ac:spMkLst>
            <pc:docMk/>
            <pc:sldMk cId="0" sldId="262"/>
            <ac:spMk id="19" creationId="{00000000-0000-0000-0000-000000000000}"/>
          </ac:spMkLst>
        </pc:spChg>
        <pc:picChg chg="add mod">
          <ac:chgData name="Varun Lautkar" userId="260503ff43b0b037" providerId="LiveId" clId="{1DCAB7C1-41F7-483C-8E5D-5F0454D90571}" dt="2026-04-23T21:57:15.228" v="360" actId="14100"/>
          <ac:picMkLst>
            <pc:docMk/>
            <pc:sldMk cId="0" sldId="262"/>
            <ac:picMk id="112" creationId="{30E3A4FB-4C4F-3090-3518-740EB492BED2}"/>
          </ac:picMkLst>
        </pc:picChg>
      </pc:sldChg>
      <pc:sldChg chg="modSp mod">
        <pc:chgData name="Varun Lautkar" userId="260503ff43b0b037" providerId="LiveId" clId="{1DCAB7C1-41F7-483C-8E5D-5F0454D90571}" dt="2026-04-23T22:48:57.227" v="470" actId="20577"/>
        <pc:sldMkLst>
          <pc:docMk/>
          <pc:sldMk cId="0" sldId="264"/>
        </pc:sldMkLst>
        <pc:spChg chg="mod">
          <ac:chgData name="Varun Lautkar" userId="260503ff43b0b037" providerId="LiveId" clId="{1DCAB7C1-41F7-483C-8E5D-5F0454D90571}" dt="2026-04-23T22:48:45.505" v="468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Varun Lautkar" userId="260503ff43b0b037" providerId="LiveId" clId="{1DCAB7C1-41F7-483C-8E5D-5F0454D90571}" dt="2026-04-23T22:48:57.227" v="470" actId="20577"/>
          <ac:spMkLst>
            <pc:docMk/>
            <pc:sldMk cId="0" sldId="264"/>
            <ac:spMk id="23" creationId="{00000000-0000-0000-0000-000000000000}"/>
          </ac:spMkLst>
        </pc:spChg>
      </pc:sldChg>
      <pc:sldChg chg="modSp mod">
        <pc:chgData name="Varun Lautkar" userId="260503ff43b0b037" providerId="LiveId" clId="{1DCAB7C1-41F7-483C-8E5D-5F0454D90571}" dt="2026-04-23T21:58:42.266" v="364" actId="20577"/>
        <pc:sldMkLst>
          <pc:docMk/>
          <pc:sldMk cId="0" sldId="265"/>
        </pc:sldMkLst>
        <pc:spChg chg="mod">
          <ac:chgData name="Varun Lautkar" userId="260503ff43b0b037" providerId="LiveId" clId="{1DCAB7C1-41F7-483C-8E5D-5F0454D90571}" dt="2026-04-23T21:58:42.266" v="364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Sp modSp mod">
        <pc:chgData name="Varun Lautkar" userId="260503ff43b0b037" providerId="LiveId" clId="{1DCAB7C1-41F7-483C-8E5D-5F0454D90571}" dt="2026-04-23T21:26:11.856" v="183"/>
        <pc:sldMkLst>
          <pc:docMk/>
          <pc:sldMk cId="0" sldId="267"/>
        </pc:sldMkLst>
      </pc:sldChg>
      <pc:sldChg chg="addSp delSp modSp add mod">
        <pc:chgData name="Varun Lautkar" userId="260503ff43b0b037" providerId="LiveId" clId="{1DCAB7C1-41F7-483C-8E5D-5F0454D90571}" dt="2026-04-23T22:11:45.904" v="431" actId="113"/>
        <pc:sldMkLst>
          <pc:docMk/>
          <pc:sldMk cId="3306493581" sldId="268"/>
        </pc:sldMkLst>
        <pc:spChg chg="mod">
          <ac:chgData name="Varun Lautkar" userId="260503ff43b0b037" providerId="LiveId" clId="{1DCAB7C1-41F7-483C-8E5D-5F0454D90571}" dt="2026-04-23T22:11:45.904" v="431" actId="113"/>
          <ac:spMkLst>
            <pc:docMk/>
            <pc:sldMk cId="3306493581" sldId="268"/>
            <ac:spMk id="2" creationId="{756F18EE-A265-D530-4A7F-0976A016BB21}"/>
          </ac:spMkLst>
        </pc:spChg>
        <pc:spChg chg="mod">
          <ac:chgData name="Varun Lautkar" userId="260503ff43b0b037" providerId="LiveId" clId="{1DCAB7C1-41F7-483C-8E5D-5F0454D90571}" dt="2026-04-23T21:41:57.974" v="236" actId="14100"/>
          <ac:spMkLst>
            <pc:docMk/>
            <pc:sldMk cId="3306493581" sldId="268"/>
            <ac:spMk id="3" creationId="{5414BE44-8BBA-FC72-46BF-F946BFE5F23F}"/>
          </ac:spMkLst>
        </pc:spChg>
        <pc:spChg chg="mod">
          <ac:chgData name="Varun Lautkar" userId="260503ff43b0b037" providerId="LiveId" clId="{1DCAB7C1-41F7-483C-8E5D-5F0454D90571}" dt="2026-04-23T21:41:55.409" v="235" actId="1076"/>
          <ac:spMkLst>
            <pc:docMk/>
            <pc:sldMk cId="3306493581" sldId="268"/>
            <ac:spMk id="5" creationId="{AD0ED145-A590-D46E-5604-B63647F65BBA}"/>
          </ac:spMkLst>
        </pc:spChg>
        <pc:spChg chg="add mod">
          <ac:chgData name="Varun Lautkar" userId="260503ff43b0b037" providerId="LiveId" clId="{1DCAB7C1-41F7-483C-8E5D-5F0454D90571}" dt="2026-04-23T22:11:42.249" v="430" actId="113"/>
          <ac:spMkLst>
            <pc:docMk/>
            <pc:sldMk cId="3306493581" sldId="268"/>
            <ac:spMk id="8" creationId="{A723A6FB-C5B5-5D01-1609-111897E9AD47}"/>
          </ac:spMkLst>
        </pc:spChg>
        <pc:spChg chg="add mod">
          <ac:chgData name="Varun Lautkar" userId="260503ff43b0b037" providerId="LiveId" clId="{1DCAB7C1-41F7-483C-8E5D-5F0454D90571}" dt="2026-04-23T22:09:59.491" v="409" actId="1076"/>
          <ac:spMkLst>
            <pc:docMk/>
            <pc:sldMk cId="3306493581" sldId="268"/>
            <ac:spMk id="9" creationId="{3081F193-2E6B-2BA4-98F6-D892D8F10703}"/>
          </ac:spMkLst>
        </pc:spChg>
        <pc:picChg chg="add mod">
          <ac:chgData name="Varun Lautkar" userId="260503ff43b0b037" providerId="LiveId" clId="{1DCAB7C1-41F7-483C-8E5D-5F0454D90571}" dt="2026-04-23T21:51:35.805" v="335" actId="1076"/>
          <ac:picMkLst>
            <pc:docMk/>
            <pc:sldMk cId="3306493581" sldId="268"/>
            <ac:picMk id="52" creationId="{35D2642F-C3AF-4E88-2266-F8739329F564}"/>
          </ac:picMkLst>
        </pc:picChg>
        <pc:picChg chg="add mod">
          <ac:chgData name="Varun Lautkar" userId="260503ff43b0b037" providerId="LiveId" clId="{1DCAB7C1-41F7-483C-8E5D-5F0454D90571}" dt="2026-04-23T21:51:26.380" v="332" actId="14100"/>
          <ac:picMkLst>
            <pc:docMk/>
            <pc:sldMk cId="3306493581" sldId="268"/>
            <ac:picMk id="54" creationId="{09316BC4-C8DE-F0B5-F950-9A7E4660D75F}"/>
          </ac:picMkLst>
        </pc:picChg>
      </pc:sldChg>
      <pc:sldChg chg="addSp delSp modSp add mod">
        <pc:chgData name="Varun Lautkar" userId="260503ff43b0b037" providerId="LiveId" clId="{1DCAB7C1-41F7-483C-8E5D-5F0454D90571}" dt="2026-04-23T23:39:22.687" v="471" actId="20577"/>
        <pc:sldMkLst>
          <pc:docMk/>
          <pc:sldMk cId="918325478" sldId="269"/>
        </pc:sldMkLst>
        <pc:spChg chg="mod">
          <ac:chgData name="Varun Lautkar" userId="260503ff43b0b037" providerId="LiveId" clId="{1DCAB7C1-41F7-483C-8E5D-5F0454D90571}" dt="2026-04-23T22:13:48.470" v="446"/>
          <ac:spMkLst>
            <pc:docMk/>
            <pc:sldMk cId="918325478" sldId="269"/>
            <ac:spMk id="2" creationId="{60BFD96A-31EF-8F84-8D70-36515DF4E15B}"/>
          </ac:spMkLst>
        </pc:spChg>
        <pc:spChg chg="mod">
          <ac:chgData name="Varun Lautkar" userId="260503ff43b0b037" providerId="LiveId" clId="{1DCAB7C1-41F7-483C-8E5D-5F0454D90571}" dt="2026-04-23T23:39:22.687" v="471" actId="20577"/>
          <ac:spMkLst>
            <pc:docMk/>
            <pc:sldMk cId="918325478" sldId="269"/>
            <ac:spMk id="14" creationId="{EFABED2C-66A2-D9C0-A1AB-65BC912F558A}"/>
          </ac:spMkLst>
        </pc:spChg>
        <pc:picChg chg="add mod">
          <ac:chgData name="Varun Lautkar" userId="260503ff43b0b037" providerId="LiveId" clId="{1DCAB7C1-41F7-483C-8E5D-5F0454D90571}" dt="2026-04-23T21:54:57.602" v="353" actId="1076"/>
          <ac:picMkLst>
            <pc:docMk/>
            <pc:sldMk cId="918325478" sldId="269"/>
            <ac:picMk id="6" creationId="{BC0433C0-7F81-A638-4D0B-9FE2C9AB088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umbc-data606-capstone-eupqjjcndyiyflwywrgsjl.streamlit.app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74319" y="274319"/>
            <a:ext cx="1645920" cy="1645920"/>
          </a:xfrm>
          <a:prstGeom prst="ellipse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743200" y="5212080"/>
            <a:ext cx="914400" cy="914400"/>
          </a:xfrm>
          <a:prstGeom prst="ellipse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" y="4754880"/>
            <a:ext cx="548640" cy="548640"/>
          </a:xfrm>
          <a:prstGeom prst="ellipse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1737360"/>
            <a:ext cx="2011680" cy="2011680"/>
          </a:xfrm>
          <a:prstGeom prst="ellipse">
            <a:avLst/>
          </a:prstGeom>
          <a:solidFill>
            <a:srgbClr val="22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17320" y="20116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 dirty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9906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6E40"/>
                </a:solidFill>
              </a:rPr>
              <a:t>CAPSTONE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27666"/>
            <a:ext cx="71323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Multi nutritional deficiencies </a:t>
            </a:r>
            <a:r>
              <a:rPr lang="en-US" sz="4000" b="1" dirty="0">
                <a:solidFill>
                  <a:srgbClr val="FF6E40"/>
                </a:solidFill>
              </a:rPr>
              <a:t>using lifestyle and clinical data</a:t>
            </a:r>
            <a:endParaRPr sz="4000" b="1" dirty="0">
              <a:solidFill>
                <a:srgbClr val="FF6E4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57801" y="3233152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CCD6E8"/>
                </a:solidFill>
              </a:rPr>
              <a:t>An ML-powered clinical screening tool for early detection
of vitamin and nutritional deficiencies.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8052" y="4629393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889AB4"/>
                </a:solidFill>
              </a:rPr>
              <a:t>Presented by · </a:t>
            </a:r>
            <a:r>
              <a:rPr lang="en-US" sz="1200" i="1" dirty="0">
                <a:solidFill>
                  <a:srgbClr val="889AB4"/>
                </a:solidFill>
              </a:rPr>
              <a:t>Varun Lautkar</a:t>
            </a:r>
          </a:p>
          <a:p>
            <a:r>
              <a:rPr lang="en-US" sz="1200" b="0" i="1" dirty="0" err="1">
                <a:solidFill>
                  <a:srgbClr val="889AB4"/>
                </a:solidFill>
              </a:rPr>
              <a:t>Proff</a:t>
            </a:r>
            <a:r>
              <a:rPr lang="en-US" sz="1200" i="1" dirty="0">
                <a:solidFill>
                  <a:srgbClr val="889AB4"/>
                </a:solidFill>
              </a:rPr>
              <a:t>. – </a:t>
            </a:r>
            <a:r>
              <a:rPr lang="en-US" sz="1200" i="1" dirty="0" err="1">
                <a:solidFill>
                  <a:srgbClr val="889AB4"/>
                </a:solidFill>
              </a:rPr>
              <a:t>Chaojie</a:t>
            </a:r>
            <a:r>
              <a:rPr lang="en-US" sz="1200" i="1" dirty="0">
                <a:solidFill>
                  <a:srgbClr val="889AB4"/>
                </a:solidFill>
              </a:rPr>
              <a:t> Wang</a:t>
            </a:r>
            <a:endParaRPr sz="1200" b="0" i="1" dirty="0">
              <a:solidFill>
                <a:srgbClr val="889AB4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5374216-E21D-6DB9-B414-9A82A67F5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366" y="30207"/>
            <a:ext cx="7982586" cy="15960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E40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Vitamin Deficiency Detection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219456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474720" cy="6400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6E40"/>
                </a:solidFill>
              </a:rPr>
              <a:t>1 in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Americans are
deficient in
at least one vitamin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474720" cy="219456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474720" cy="64008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325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C2B5"/>
                </a:solidFill>
              </a:rPr>
              <a:t>~50%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488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of deficiencies
go undiagnosed
until symptomatic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219456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47472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22C55E"/>
                </a:solidFill>
              </a:rPr>
              <a:t>$30B+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488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8"/>
                </a:solidFill>
              </a:rPr>
              <a:t>Annual US cost of
nutrition-related
illness treatment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Clinical Challenges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⚠️  Symptoms are often nonspecific and overlap across deficiencies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⏱️  Lab tests are expensive, time-consuming, and not always accessible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🔍  Clinicians may not proactively screen without obvious risk factors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57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</a:rPr>
              <a:t>🌍  Rural and low-income populations face the greatest access barriers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3520440"/>
            <a:ext cx="4297680" cy="2560320"/>
          </a:xfrm>
          <a:prstGeom prst="rect">
            <a:avLst/>
          </a:prstGeom>
          <a:solidFill>
            <a:srgbClr val="0D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89520" y="3520440"/>
            <a:ext cx="64008" cy="2560320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0" y="3611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B5"/>
                </a:solidFill>
              </a:rPr>
              <a:t>Our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041648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An AI-powered screening tool that analyzes patient demographics, lifestyle factors, physical symptoms, and lab markers to flag potential deficiencies early — before irreversible damage occurs.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E40"/>
                </a:solidFill>
              </a:rPr>
              <a:t>DATA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 Overview &amp; 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783080" cy="128016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6E40"/>
                </a:solidFill>
              </a:rPr>
              <a:t>4,000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AB4"/>
                </a:solidFill>
              </a:rPr>
              <a:t>Patient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143000"/>
            <a:ext cx="1783080" cy="128016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31720" y="11887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6E40"/>
                </a:solidFill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8288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AB4"/>
                </a:solidFill>
              </a:rPr>
              <a:t>Input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43000"/>
            <a:ext cx="1783080" cy="128016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11887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6E40"/>
                </a:solidFill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8288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AB4"/>
                </a:solidFill>
              </a:rPr>
              <a:t>Disease Classes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143000"/>
            <a:ext cx="1783080" cy="128016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11887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6E40"/>
                </a:solidFill>
              </a:rPr>
              <a:t>Synthetic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82880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AB4"/>
                </a:solidFill>
              </a:rPr>
              <a:t>Balanced 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06040"/>
            <a:ext cx="5212080" cy="164592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2606040"/>
            <a:ext cx="64008" cy="1645920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👤 Demographics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1089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Age, Gender, BMI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45643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Income 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80390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Latitude/Region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2606040"/>
            <a:ext cx="5212080" cy="164592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0" y="2606040"/>
            <a:ext cx="64008" cy="164592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80760" y="2697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🧬 Lifestyle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1089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Diet Type (Vegan/Veg/Balanced)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45643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Smoking &amp; Alcohol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80390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Exercise &amp; Sun Exposure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80560"/>
            <a:ext cx="5212080" cy="164592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4480560"/>
            <a:ext cx="64008" cy="1645920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4572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⚕️ Symptoms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9834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8 Binary Symptom Flags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3309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Symptom Count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6784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Multi-Deficiency Flag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4480560"/>
            <a:ext cx="5212080" cy="164592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852160" y="4480560"/>
            <a:ext cx="64008" cy="164592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80760" y="4572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🧪 Lab Markers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49834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8 Vitamin % RDA Values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53309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Hemoglobin, Serum D,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567842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• B12 &amp; Folate Levels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E40"/>
                </a:solidFill>
              </a:rPr>
              <a:t>DIAGNOSTIC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9 Conditions the Model Can Detect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148840" cy="233172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14884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59" y="13258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182880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Healthy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242316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No deficiency
detected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188720"/>
            <a:ext cx="2148840" cy="233172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51760" y="1188720"/>
            <a:ext cx="2148840" cy="6400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97479" y="13258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182880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Vitamin A
Deficiency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242316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Night blindness,
dry skin, immune issues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79" y="1188720"/>
            <a:ext cx="2148840" cy="233172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83479" y="1188720"/>
            <a:ext cx="2148840" cy="64008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199" y="13258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182880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Vitamin C
Deficiency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199" y="242316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Scurvy: bleeding gums,
fatigue, poor healing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199" y="1188720"/>
            <a:ext cx="2148840" cy="233172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199" y="1188720"/>
            <a:ext cx="2148840" cy="64008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60919" y="13258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☀️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182880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Vitamin D
Deficiency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242316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Rickets, osteomalacia,
bone pain, weakness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6919" y="1188720"/>
            <a:ext cx="2148840" cy="233172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46919" y="1188720"/>
            <a:ext cx="214884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132588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82880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Vitamin B12
Deficiency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42316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Numbness, memory loss,
pale skin, anemia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794760"/>
            <a:ext cx="2148840" cy="233172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794760"/>
            <a:ext cx="2148840" cy="640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59" y="39319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59" y="443484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Folate
Deficiency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59" y="502920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Megaloblastic anemia,
neurodevelopmental risk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794760"/>
            <a:ext cx="2148840" cy="233172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651760" y="3794760"/>
            <a:ext cx="21488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97479" y="39319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79" y="443484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Iron
Deficiency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7479" y="502920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Anemia, fatigue,
pale skin, weakness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83479" y="3794760"/>
            <a:ext cx="2148840" cy="233172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83479" y="3794760"/>
            <a:ext cx="214884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199" y="39319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199" y="443484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Calcium
Deficiency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199" y="502920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Hypocalcemia, muscle
cramps, brittle bones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199" y="3794760"/>
            <a:ext cx="2148840" cy="233172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315199" y="3794760"/>
            <a:ext cx="2148840" cy="64008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60919" y="39319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19" y="443484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Vitamin E
Deficiency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19" y="502920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Nerve damage, immune
dysfunction, vision 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CC0F0-13BD-C57A-1BD1-72776E88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6F18EE-A265-D530-4A7F-0976A016BB21}"/>
              </a:ext>
            </a:extLst>
          </p:cNvPr>
          <p:cNvSpPr/>
          <p:nvPr/>
        </p:nvSpPr>
        <p:spPr>
          <a:xfrm>
            <a:off x="-127" y="118537"/>
            <a:ext cx="12188952" cy="6858000"/>
          </a:xfrm>
          <a:prstGeom prst="rect">
            <a:avLst/>
          </a:prstGeom>
          <a:solidFill>
            <a:srgbClr val="14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2. Lifestyle vs. Biomarkers</a:t>
            </a:r>
            <a:endParaRPr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14BE44-8BBA-FC72-46BF-F946BFE5F23F}"/>
              </a:ext>
            </a:extLst>
          </p:cNvPr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ED145-A590-D46E-5604-B63647F65BBA}"/>
              </a:ext>
            </a:extLst>
          </p:cNvPr>
          <p:cNvSpPr txBox="1"/>
          <p:nvPr/>
        </p:nvSpPr>
        <p:spPr>
          <a:xfrm>
            <a:off x="193431" y="18288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</a:rPr>
              <a:t> </a:t>
            </a:r>
            <a:r>
              <a:rPr lang="en-US" sz="2800" b="1" i="0" dirty="0">
                <a:solidFill>
                  <a:srgbClr val="EEF0FF"/>
                </a:solidFill>
                <a:effectLst/>
                <a:latin typeface="Google Sans"/>
              </a:rPr>
              <a:t>Exploratory Data Analysis</a:t>
            </a:r>
            <a:endParaRPr lang="en-US" sz="2600" b="1" i="0" dirty="0">
              <a:solidFill>
                <a:srgbClr val="FFFFF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69D079-38D3-9DB1-F967-A5299D7D5CF2}"/>
              </a:ext>
            </a:extLst>
          </p:cNvPr>
          <p:cNvSpPr txBox="1"/>
          <p:nvPr/>
        </p:nvSpPr>
        <p:spPr>
          <a:xfrm>
            <a:off x="7360919" y="182880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Vitamin D
Deficiency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E68ABC-584D-A626-CF78-21559BE787AC}"/>
              </a:ext>
            </a:extLst>
          </p:cNvPr>
          <p:cNvSpPr txBox="1"/>
          <p:nvPr/>
        </p:nvSpPr>
        <p:spPr>
          <a:xfrm>
            <a:off x="9692640" y="242316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CCD6E8"/>
                </a:solidFill>
              </a:rPr>
              <a:t>Numbness, memory loss,
pale skin, anemia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5D2642F-C3AF-4E88-2266-F8739329F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870" y="641838"/>
            <a:ext cx="4351237" cy="29718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9316BC4-C8DE-F0B5-F950-9A7E4660D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869" y="3657600"/>
            <a:ext cx="4351238" cy="3081863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A723A6FB-C5B5-5D01-1609-111897E9A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03780"/>
            <a:ext cx="7455878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</a:rPr>
              <a:t>1. Target Class Distribution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Dataset Health: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4,000 records distributed equally across 5 health categories.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Unbiased Training: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 balanced dataset prevents the model from favoring the majority "Healthy" class.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High Sensitivity: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This balance is why the model successfully identifies rare deficiencies (like Scurvy) with high precision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081F193-2E6B-2BA4-98F6-D892D8F10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13638"/>
            <a:ext cx="745587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Clinical Validation: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Visual proof that lifestyle (Diet/Sun Exposure) directly correlates with blood markers (B12/Vitamin 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Lifestyle Proxies: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Confirms that patient history serves as a strong "non-invasive" signal for internal health.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Data Integrity: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The clear separation in median values validates the quality of the synthetic data used for training.</a:t>
            </a:r>
          </a:p>
        </p:txBody>
      </p:sp>
    </p:spTree>
    <p:extLst>
      <p:ext uri="{BB962C8B-B14F-4D97-AF65-F5344CB8AC3E}">
        <p14:creationId xmlns:p14="http://schemas.microsoft.com/office/powerpoint/2010/main" val="3306493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84B14-0F1A-89E3-4ECD-5B4A31BA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BFD96A-31EF-8F84-8D70-36515DF4E15B}"/>
              </a:ext>
            </a:extLst>
          </p:cNvPr>
          <p:cNvSpPr/>
          <p:nvPr/>
        </p:nvSpPr>
        <p:spPr>
          <a:xfrm>
            <a:off x="-105508" y="-18288"/>
            <a:ext cx="12188952" cy="6858000"/>
          </a:xfrm>
          <a:prstGeom prst="rect">
            <a:avLst/>
          </a:prstGeom>
          <a:solidFill>
            <a:srgbClr val="14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6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A9D4B2-A8AC-BEE9-0E0A-A8572822DC8C}"/>
              </a:ext>
            </a:extLst>
          </p:cNvPr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47B4B-9276-4BC6-9D82-BBB22C88123F}"/>
              </a:ext>
            </a:extLst>
          </p:cNvPr>
          <p:cNvSpPr txBox="1"/>
          <p:nvPr/>
        </p:nvSpPr>
        <p:spPr>
          <a:xfrm>
            <a:off x="193431" y="18288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</a:rPr>
              <a:t> </a:t>
            </a:r>
            <a:r>
              <a:rPr lang="en-US" sz="2800" b="1" i="0" dirty="0">
                <a:solidFill>
                  <a:srgbClr val="EEF0FF"/>
                </a:solidFill>
                <a:effectLst/>
                <a:latin typeface="Google Sans"/>
              </a:rPr>
              <a:t>Exploratory Data Analysis</a:t>
            </a:r>
            <a:endParaRPr lang="en-US" sz="2600" b="1" i="0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ABED2C-66A2-D9C0-A1AB-65BC912F558A}"/>
              </a:ext>
            </a:extLst>
          </p:cNvPr>
          <p:cNvSpPr txBox="1"/>
          <p:nvPr/>
        </p:nvSpPr>
        <p:spPr>
          <a:xfrm>
            <a:off x="105381" y="855086"/>
            <a:ext cx="473202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3. Feature Correlation &amp; Importance 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Top Drivers: Identifies Serum Iron, Vitamin D, and Hemoglobin as the most influential diagnostic features.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Clinical Alignment: The mathematical priorities match real-world medical diagnostic standards.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Dimensionality: Shows that while 33 features were analyzed, the "Clinical Trio" (Iron, D, B12) carries the most predictive weight.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0433C0-7F81-A638-4D0B-9FE2C9AB0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738" y="727107"/>
            <a:ext cx="6452706" cy="580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325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E40"/>
                </a:solidFill>
              </a:rPr>
              <a:t>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Choosing the Best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32004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64008"/>
          </a:xfrm>
          <a:prstGeom prst="rect">
            <a:avLst/>
          </a:prstGeom>
          <a:solidFill>
            <a:srgbClr val="889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Logistic
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AB4"/>
                </a:solidFill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CD6E8"/>
                </a:solidFill>
              </a:rPr>
              <a:t>84.2%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AB4"/>
                </a:solidFill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015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</a:rPr>
              <a:t>82.1%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AB4"/>
                </a:solidFill>
              </a:rPr>
              <a:t>Linear boundary; fast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188720"/>
            <a:ext cx="2743200" cy="32004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0" y="1188720"/>
            <a:ext cx="2743200" cy="64008"/>
          </a:xfrm>
          <a:prstGeom prst="rect">
            <a:avLst/>
          </a:prstGeom>
          <a:solidFill>
            <a:srgbClr val="889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0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AB4"/>
                </a:solidFill>
              </a:rP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CD6E8"/>
                </a:solidFill>
              </a:rPr>
              <a:t>87.5%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AB4"/>
                </a:solidFill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4015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</a:rPr>
              <a:t>86.3%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840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AB4"/>
                </a:solidFill>
              </a:rPr>
              <a:t>Strong margin classifier; slower to scale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188720"/>
            <a:ext cx="2743200" cy="32004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1188720"/>
            <a:ext cx="2743200" cy="64008"/>
          </a:xfrm>
          <a:prstGeom prst="rect">
            <a:avLst/>
          </a:prstGeom>
          <a:solidFill>
            <a:srgbClr val="889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AB4"/>
                </a:solidFill>
              </a:rPr>
              <a:t>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CD6E8"/>
                </a:solidFill>
              </a:rPr>
              <a:t>89.1%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AB4"/>
                </a:solidFill>
              </a:rPr>
              <a:t>Recall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015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6E8"/>
                </a:solidFill>
              </a:rPr>
              <a:t>88.4%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840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AB4"/>
                </a:solidFill>
              </a:rPr>
              <a:t>Gradient boosting; powerful but complex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1188720"/>
            <a:ext cx="2743200" cy="3200400"/>
          </a:xfrm>
          <a:prstGeom prst="rect">
            <a:avLst/>
          </a:prstGeom>
          <a:solidFill>
            <a:srgbClr val="28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0" y="1188720"/>
            <a:ext cx="2743200" cy="6400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4000" y="1188720"/>
            <a:ext cx="2743200" cy="3200400"/>
          </a:xfrm>
          <a:prstGeom prst="rect">
            <a:avLst/>
          </a:prstGeom>
          <a:solidFill>
            <a:srgbClr val="28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44000" y="1188720"/>
            <a:ext cx="2743200" cy="6400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35440" y="1298448"/>
            <a:ext cx="2560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6E40"/>
                </a:solidFill>
              </a:rPr>
              <a:t> SELECTED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1691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Random
Forest 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AB4"/>
                </a:solidFill>
              </a:rPr>
              <a:t>Accuracy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2C55E"/>
                </a:solidFill>
              </a:rPr>
              <a:t>92.4%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AB4"/>
                </a:solidFill>
              </a:rPr>
              <a:t>Recall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4015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2B5"/>
                </a:solidFill>
              </a:rPr>
              <a:t>91.8%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3840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AB4"/>
                </a:solidFill>
              </a:rPr>
              <a:t>Best recall across all classes; selected!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572000"/>
            <a:ext cx="11430000" cy="18288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4572000"/>
            <a:ext cx="64008" cy="182880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4645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E40"/>
                </a:solidFill>
              </a:rPr>
              <a:t>Why Random Forest?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12064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CCD6E8"/>
                </a:solidFill>
              </a:rPr>
              <a:t>✓ Highest recall on minority classes (Rickets, Scurvy)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12064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✓ Naturally handles mixed feature types (numeric + dummy encoded)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623559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✓ Resistant to overfitting via ensemble voting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623559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✓ Outputs probability estimates for confidence scoring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E40"/>
                </a:solidFill>
              </a:rP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Evaluation Results — Random Forest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2743200" cy="13716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743200" cy="6400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6E40"/>
                </a:solidFill>
              </a:rPr>
              <a:t>92.4%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299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AB4"/>
                </a:solidFill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143000"/>
            <a:ext cx="2743200" cy="13716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1143000"/>
            <a:ext cx="2743200" cy="64008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2344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2B5"/>
                </a:solidFill>
              </a:rPr>
              <a:t>91.8%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0299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AB4"/>
                </a:solidFill>
              </a:rPr>
              <a:t>Macro 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2743200" cy="13716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27432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2C55E"/>
                </a:solidFill>
              </a:rPr>
              <a:t>91.6%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299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AB4"/>
                </a:solidFill>
              </a:rPr>
              <a:t>Macro 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143000"/>
            <a:ext cx="3044824" cy="13716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143000"/>
            <a:ext cx="3044952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2344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A855F7"/>
                </a:solidFill>
              </a:rPr>
              <a:t>92.1%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0299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AB4"/>
                </a:solidFill>
              </a:rPr>
              <a:t>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697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Per-Class Performance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08960"/>
            <a:ext cx="3246120" cy="347472"/>
          </a:xfrm>
          <a:prstGeom prst="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127248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E40"/>
                </a:solidFill>
              </a:rPr>
              <a:t>Class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3108960"/>
            <a:ext cx="1325880" cy="347472"/>
          </a:xfrm>
          <a:prstGeom prst="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79" y="3127248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E40"/>
                </a:solidFill>
              </a:rPr>
              <a:t>Precision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3108960"/>
            <a:ext cx="1325880" cy="347472"/>
          </a:xfrm>
          <a:prstGeom prst="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57800" y="3127248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E40"/>
                </a:solidFill>
              </a:rPr>
              <a:t>Recall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108960"/>
            <a:ext cx="1325880" cy="347472"/>
          </a:xfrm>
          <a:prstGeom prst="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3127248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E40"/>
                </a:solidFill>
              </a:rPr>
              <a:t>F1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93008"/>
            <a:ext cx="324612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529584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Healthy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493008"/>
            <a:ext cx="132588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40479" y="35295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96%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66360" y="3493008"/>
            <a:ext cx="132588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57800" y="35295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97%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493008"/>
            <a:ext cx="132588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75120" y="35295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96%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813048"/>
            <a:ext cx="324612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3849624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Vitamin D Deficiency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3813048"/>
            <a:ext cx="132588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79" y="384962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93%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66360" y="3813048"/>
            <a:ext cx="132588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57800" y="384962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94%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3813048"/>
            <a:ext cx="132588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0" y="384962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93%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133087"/>
            <a:ext cx="324612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4169663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Iron Deficiency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39" y="4133087"/>
            <a:ext cx="132588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840479" y="4169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91%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66360" y="4133087"/>
            <a:ext cx="132588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257800" y="4169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90%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4133087"/>
            <a:ext cx="132588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75120" y="4169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91%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453127"/>
            <a:ext cx="324612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4489703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Vitamin B12 Deficiency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39" y="4453127"/>
            <a:ext cx="132588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840479" y="448970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90%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66360" y="4453127"/>
            <a:ext cx="132588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57800" y="448970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92%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0" y="4453127"/>
            <a:ext cx="132588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75120" y="448970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91%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773168"/>
            <a:ext cx="324612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7200" y="4809744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Vitamin A Deficiency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9039" y="4773168"/>
            <a:ext cx="132588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840479" y="480974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E40"/>
                </a:solidFill>
              </a:rPr>
              <a:t>89%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66360" y="4773168"/>
            <a:ext cx="132588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57800" y="480974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E40"/>
                </a:solidFill>
              </a:rPr>
              <a:t>88%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0" y="4773168"/>
            <a:ext cx="132588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675120" y="480974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E40"/>
                </a:solidFill>
              </a:rPr>
              <a:t>88%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093208"/>
            <a:ext cx="324612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7200" y="5129784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Calcium Deficiency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9039" y="5093208"/>
            <a:ext cx="132588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840479" y="51297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E40"/>
                </a:solidFill>
              </a:rPr>
              <a:t>88%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66360" y="5093208"/>
            <a:ext cx="132588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57800" y="51297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E40"/>
                </a:solidFill>
              </a:rPr>
              <a:t>87%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83680" y="5093208"/>
            <a:ext cx="132588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675120" y="51297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E40"/>
                </a:solidFill>
              </a:rPr>
              <a:t>87%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5413248"/>
            <a:ext cx="324612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57200" y="5449824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Folate Deficiency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749039" y="5413248"/>
            <a:ext cx="132588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840479" y="544982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E40"/>
                </a:solidFill>
              </a:rPr>
              <a:t>87%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66360" y="5413248"/>
            <a:ext cx="132588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257800" y="544982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86%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83680" y="5413248"/>
            <a:ext cx="132588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675120" y="544982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86%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5733288"/>
            <a:ext cx="324612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57200" y="5769864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Vitamin C Deficiency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749039" y="5733288"/>
            <a:ext cx="132588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840479" y="576986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85%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66360" y="5733288"/>
            <a:ext cx="132588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257800" y="576986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84%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583680" y="5733288"/>
            <a:ext cx="1325880" cy="30175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675120" y="576986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84%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5760" y="6053327"/>
            <a:ext cx="324612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57200" y="6089903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Vitamin E Deficiency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749039" y="6053327"/>
            <a:ext cx="132588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840479" y="608990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83%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166360" y="6053327"/>
            <a:ext cx="132588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257800" y="608990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84%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583680" y="6053327"/>
            <a:ext cx="1325880" cy="30175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675120" y="608990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83%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38160" y="2651760"/>
            <a:ext cx="3749039" cy="411480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138160" y="2651760"/>
            <a:ext cx="64008" cy="4114800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32104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B5"/>
                </a:solidFill>
              </a:rPr>
              <a:t>Key Findings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21040" y="32461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Model excels at identifying
Healthy patients (96% recall)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21040" y="3913631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Strongest at flagging Vitamin D
deficiency — the most common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21040" y="458114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Vitamin E is the hardest to
classify — fewest symptoms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21040" y="524865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Stratified train/test split
prevents class imbalance bias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21040" y="59161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• Balanced dataset (444 records
per class) improved minority recall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30E3A4FB-4C4F-3090-3518-740EB492B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99" y="2542031"/>
            <a:ext cx="4187825" cy="43159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E40"/>
                </a:solidFill>
              </a:rPr>
              <a:t>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457200"/>
            <a:ext cx="116197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 dirty="0" err="1">
                <a:solidFill>
                  <a:srgbClr val="FFFFFF"/>
                </a:solidFill>
              </a:rPr>
              <a:t>Streamlit</a:t>
            </a:r>
            <a:r>
              <a:rPr sz="2600" b="1" i="0" dirty="0">
                <a:solidFill>
                  <a:srgbClr val="FFFFFF"/>
                </a:solidFill>
              </a:rPr>
              <a:t> Web Application — </a:t>
            </a:r>
            <a:r>
              <a:rPr lang="en-US" sz="2000" i="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https://umbc-data606-capstone-eupqjjcndyiyflwywrgsjl.streamlit.app/</a:t>
            </a:r>
            <a:endParaRPr sz="2000" i="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B5"/>
                </a:solidFill>
              </a:rPr>
              <a:t>User Interface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27632"/>
            <a:ext cx="5120640" cy="704088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27632"/>
            <a:ext cx="54864" cy="70408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8249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👤 Demographics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93392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Age, BMI, gender, income, and latitude region selection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5120640" cy="704088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423160"/>
            <a:ext cx="54864" cy="704088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🧬 Lifestyle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88920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Diet type, smoking, alcohol, exercise, and sun exposure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18688"/>
            <a:ext cx="5120640" cy="704088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218688"/>
            <a:ext cx="54864" cy="70408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2735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⚕️ Symptoms Checklist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84448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8 binary symptom flags for instant pattern recognition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14215"/>
            <a:ext cx="5120640" cy="704088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4014215"/>
            <a:ext cx="54864" cy="704088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06907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🧪 Lab Results Section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79976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RDA sliders for 8 vitamins + serum level numeric inputs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09744"/>
            <a:ext cx="5120640" cy="704088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809744"/>
            <a:ext cx="54864" cy="70408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864607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🧠 AI Analysis Button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175504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One-click prediction with real-time spinner feedback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605272"/>
            <a:ext cx="5120640" cy="704088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5605272"/>
            <a:ext cx="54864" cy="704088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566013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Diagnostic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971032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Clear pass/flag output with clinical recommendation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1097280"/>
            <a:ext cx="6126480" cy="539496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60720" y="1097280"/>
            <a:ext cx="6126480" cy="365760"/>
          </a:xfrm>
          <a:prstGeom prst="rect">
            <a:avLst/>
          </a:prstGeom>
          <a:solidFill>
            <a:srgbClr val="1F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1152144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889AB4"/>
                </a:solidFill>
              </a:rPr>
              <a:t>● ● ●  Vitamin Deficiency Diagnostic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16002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🔬 Vitamin Deficiency Diagnostic 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2148840"/>
            <a:ext cx="1719072" cy="1737360"/>
          </a:xfrm>
          <a:prstGeom prst="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97879" y="2221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E40"/>
                </a:solidFill>
              </a:rPr>
              <a:t>👤 Demographics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97879" y="2651760"/>
            <a:ext cx="1600200" cy="228600"/>
          </a:xfrm>
          <a:prstGeom prst="rect">
            <a:avLst/>
          </a:prstGeom>
          <a:solidFill>
            <a:srgbClr val="2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897879" y="2999232"/>
            <a:ext cx="1600200" cy="228600"/>
          </a:xfrm>
          <a:prstGeom prst="rect">
            <a:avLst/>
          </a:prstGeom>
          <a:solidFill>
            <a:srgbClr val="2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897879" y="3346704"/>
            <a:ext cx="1600200" cy="228600"/>
          </a:xfrm>
          <a:prstGeom prst="rect">
            <a:avLst/>
          </a:prstGeom>
          <a:solidFill>
            <a:srgbClr val="2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72400" y="2148840"/>
            <a:ext cx="1719072" cy="1737360"/>
          </a:xfrm>
          <a:prstGeom prst="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63840" y="2221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2B5"/>
                </a:solidFill>
              </a:rPr>
              <a:t>🧬 Lifestyle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2651760"/>
            <a:ext cx="1600200" cy="228600"/>
          </a:xfrm>
          <a:prstGeom prst="rect">
            <a:avLst/>
          </a:prstGeom>
          <a:solidFill>
            <a:srgbClr val="2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863840" y="2999232"/>
            <a:ext cx="1600200" cy="228600"/>
          </a:xfrm>
          <a:prstGeom prst="rect">
            <a:avLst/>
          </a:prstGeom>
          <a:solidFill>
            <a:srgbClr val="2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863840" y="3346704"/>
            <a:ext cx="1600200" cy="228600"/>
          </a:xfrm>
          <a:prstGeom prst="rect">
            <a:avLst/>
          </a:prstGeom>
          <a:solidFill>
            <a:srgbClr val="2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738360" y="2148840"/>
            <a:ext cx="1810512" cy="1737360"/>
          </a:xfrm>
          <a:prstGeom prst="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29800" y="222199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</a:rPr>
              <a:t>⚕️ Symptoms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29800" y="2651760"/>
            <a:ext cx="1691640" cy="228600"/>
          </a:xfrm>
          <a:prstGeom prst="rect">
            <a:avLst/>
          </a:prstGeom>
          <a:solidFill>
            <a:srgbClr val="2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829800" y="2999232"/>
            <a:ext cx="1691640" cy="228600"/>
          </a:xfrm>
          <a:prstGeom prst="rect">
            <a:avLst/>
          </a:prstGeom>
          <a:solidFill>
            <a:srgbClr val="2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829800" y="3346704"/>
            <a:ext cx="1691640" cy="228600"/>
          </a:xfrm>
          <a:prstGeom prst="rect">
            <a:avLst/>
          </a:prstGeom>
          <a:solidFill>
            <a:srgbClr val="2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806440" y="4005072"/>
            <a:ext cx="5852160" cy="1371600"/>
          </a:xfrm>
          <a:prstGeom prst="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0" y="40690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E40"/>
                </a:solidFill>
              </a:rPr>
              <a:t>🧪 Lab Results &amp; Dietary Intakes (% RDA)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4480560"/>
            <a:ext cx="1737360" cy="292608"/>
          </a:xfrm>
          <a:prstGeom prst="rect">
            <a:avLst/>
          </a:prstGeom>
          <a:solidFill>
            <a:srgbClr val="2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863840" y="4480560"/>
            <a:ext cx="1737360" cy="292608"/>
          </a:xfrm>
          <a:prstGeom prst="rect">
            <a:avLst/>
          </a:prstGeom>
          <a:solidFill>
            <a:srgbClr val="2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784080" y="4480560"/>
            <a:ext cx="1737360" cy="292608"/>
          </a:xfrm>
          <a:prstGeom prst="rect">
            <a:avLst/>
          </a:prstGeom>
          <a:solidFill>
            <a:srgbClr val="2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943600" y="4882896"/>
            <a:ext cx="1737360" cy="292608"/>
          </a:xfrm>
          <a:prstGeom prst="rect">
            <a:avLst/>
          </a:prstGeom>
          <a:solidFill>
            <a:srgbClr val="2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863840" y="4882896"/>
            <a:ext cx="1737360" cy="292608"/>
          </a:xfrm>
          <a:prstGeom prst="rect">
            <a:avLst/>
          </a:prstGeom>
          <a:solidFill>
            <a:srgbClr val="2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784080" y="4882896"/>
            <a:ext cx="1737360" cy="292608"/>
          </a:xfrm>
          <a:prstGeom prst="rect">
            <a:avLst/>
          </a:prstGeom>
          <a:solidFill>
            <a:srgbClr val="24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806440" y="5486400"/>
            <a:ext cx="5852160" cy="41148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806440" y="553212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🧠 Analyze Data &amp; Predict Diagnosis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06440" y="5989320"/>
            <a:ext cx="5852160" cy="457200"/>
          </a:xfrm>
          <a:prstGeom prst="rect">
            <a:avLst/>
          </a:prstGeom>
          <a:solidFill>
            <a:srgbClr val="143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0" y="605332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✅  Diagnosis: No significant deficiencies detected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AC4E446-92ED-777F-B76E-4224BB02B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005840"/>
            <a:ext cx="6428105" cy="300837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58C5626-BC05-5831-9C8A-9C1F5DFB0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4014215"/>
            <a:ext cx="6428232" cy="2706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E40"/>
                </a:solidFill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Current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749039" cy="192024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749039" cy="54864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25780" y="1531619"/>
            <a:ext cx="502920" cy="502920"/>
          </a:xfrm>
          <a:prstGeom prst="ellipse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630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Synthetic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1"/>
            <a:ext cx="3429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6E8"/>
                </a:solidFill>
              </a:rPr>
              <a:t>Trained on 4,000 synthetic records </a:t>
            </a:r>
            <a:r>
              <a:rPr lang="en-US" sz="1100" dirty="0">
                <a:solidFill>
                  <a:srgbClr val="CCD6E8"/>
                </a:solidFill>
              </a:rPr>
              <a:t> </a:t>
            </a:r>
            <a:r>
              <a:rPr sz="1100" b="0" i="0" dirty="0">
                <a:solidFill>
                  <a:srgbClr val="CCD6E8"/>
                </a:solidFill>
              </a:rPr>
              <a:t>performance on real clinical populations is unvalidated.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749039" cy="192024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57700" y="1531619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4630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993391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6E8"/>
                </a:solidFill>
              </a:rPr>
              <a:t>Missing comorbidities, active medications, and genetic predisposition factors that clinicians rely 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3749039" cy="192024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280160"/>
            <a:ext cx="3749039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89619" y="1531619"/>
            <a:ext cx="502920" cy="5029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4630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Binary Symptoms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993391"/>
            <a:ext cx="3429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CD6E8"/>
                </a:solidFill>
              </a:rPr>
              <a:t>Symptom severity is not captured —</a:t>
            </a:r>
            <a:r>
              <a:rPr lang="en-US" sz="1100" b="0" i="0" dirty="0">
                <a:solidFill>
                  <a:srgbClr val="CCD6E8"/>
                </a:solidFill>
              </a:rPr>
              <a:t> </a:t>
            </a:r>
            <a:r>
              <a:rPr sz="1100" b="0" i="0" dirty="0">
                <a:solidFill>
                  <a:srgbClr val="CCD6E8"/>
                </a:solidFill>
              </a:rPr>
              <a:t>only presence/absence recorded, losing clinical nuance.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29000"/>
            <a:ext cx="3749039" cy="192024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3429000"/>
            <a:ext cx="3749039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25780" y="3680459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37033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611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Static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42232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No online learning capability; model must be fully retrained as new data becomes available.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429000"/>
            <a:ext cx="3749039" cy="192024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97680" y="3429000"/>
            <a:ext cx="3749039" cy="54864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457700" y="3680459"/>
            <a:ext cx="502920" cy="502920"/>
          </a:xfrm>
          <a:prstGeom prst="ellipse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80560" y="37033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3611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Single Label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142232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Predicts one diagnosis per patient — real patients can suffer from multiple simultaneous deficiencies.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429000"/>
            <a:ext cx="3749039" cy="192024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600" y="3429000"/>
            <a:ext cx="3749039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389619" y="3680459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0" y="37033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611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Explainability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142232"/>
            <a:ext cx="3429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Model produces a label but no explanation of which features drove the prediction — a clinical trust barrier.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E40"/>
                </a:solidFill>
              </a:rPr>
              <a:t>REAL-WORLD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Where This Tool Can Make a Difference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49039" cy="260604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4864" cy="260604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80060" y="1394460"/>
            <a:ext cx="685800" cy="685800"/>
          </a:xfrm>
          <a:prstGeom prst="ellipse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46304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9903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Primary Care Clinics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1828800"/>
            <a:ext cx="1097280" cy="25603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184708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E40"/>
                </a:solidFill>
              </a:rPr>
              <a:t>Pre-visit screening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828800"/>
            <a:ext cx="1097280" cy="25603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4600" y="184708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E40"/>
                </a:solidFill>
              </a:rPr>
              <a:t>Reduces lab costs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240280"/>
            <a:ext cx="3383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Physicians can run a quick pre-screening during routine checkups  flagging at-risk patients before costly blood panels are ordered.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234440"/>
            <a:ext cx="3749039" cy="260604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59" y="1234440"/>
            <a:ext cx="54864" cy="2606040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411979" y="1394460"/>
            <a:ext cx="685800" cy="685800"/>
          </a:xfrm>
          <a:prstGeom prst="ellipse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1" y="146304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9" y="139903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Rural &amp; Underserved Communities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79" y="1828800"/>
            <a:ext cx="1097280" cy="25603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57799" y="184708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2B5"/>
                </a:solidFill>
              </a:rPr>
              <a:t>No lab required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799" y="1828800"/>
            <a:ext cx="1097280" cy="25603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19" y="184708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2B5"/>
                </a:solidFill>
              </a:rPr>
              <a:t>Works on any device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7" y="224028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In areas with limited lab access, the app can serve as a first-line diagnostic aid using only a patient interview and basic biometrics.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1234440"/>
            <a:ext cx="3749039" cy="260604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83879" y="1234440"/>
            <a:ext cx="54864" cy="26060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343900" y="1394460"/>
            <a:ext cx="685800" cy="6858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48471" y="146304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139903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Medical Education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1828800"/>
            <a:ext cx="1097280" cy="25603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89720" y="184708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55F7"/>
                </a:solidFill>
              </a:rPr>
              <a:t>Case study simulations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32720" y="1828800"/>
            <a:ext cx="1097280" cy="25603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78440" y="184708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55F7"/>
                </a:solidFill>
              </a:rPr>
              <a:t>Pattern recognition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224028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Students and residents can use the tool interactively to learn how symptom combinations and lab values map to specific deficiencies.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069080"/>
            <a:ext cx="3749039" cy="260604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0040" y="4069080"/>
            <a:ext cx="54864" cy="2606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80060" y="4229100"/>
            <a:ext cx="685800" cy="6858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4632" y="4297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2336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Public Health Surveillance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80160" y="4663440"/>
            <a:ext cx="1097280" cy="25603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325880" y="468172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Population-level insight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4663440"/>
            <a:ext cx="1097280" cy="25603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514600" y="468172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Geographic mapping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7" y="507492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Aggregate anonymized predictions across large populations can help health agencies identify nutritional deficiency hotspots by region.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59" y="4069080"/>
            <a:ext cx="3749039" cy="260604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251959" y="4069080"/>
            <a:ext cx="54864" cy="2606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411979" y="4229100"/>
            <a:ext cx="685800" cy="6858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16551" y="4297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9" y="42336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Supplement &amp; Nutrition Apps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2079" y="4663440"/>
            <a:ext cx="1097280" cy="25603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257799" y="468172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C55E"/>
                </a:solidFill>
              </a:rPr>
              <a:t>Consumer wellness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799" y="4663440"/>
            <a:ext cx="1097280" cy="25603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46519" y="468172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C55E"/>
                </a:solidFill>
              </a:rPr>
              <a:t>API integration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53127" y="507492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Integrate as a backend API into consumer wellness apps to give users personalized dietary recommendations based on their symptom profile.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83879" y="4069080"/>
            <a:ext cx="3749039" cy="2606040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183879" y="4069080"/>
            <a:ext cx="54864" cy="26060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343900" y="4229100"/>
            <a:ext cx="685800" cy="6858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48471" y="4297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4233672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Workplace Wellness Programs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4663440"/>
            <a:ext cx="1097280" cy="25603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89720" y="468172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C4899"/>
                </a:solidFill>
              </a:rPr>
              <a:t>Anonymous screening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332720" y="4663440"/>
            <a:ext cx="1097280" cy="256032"/>
          </a:xfrm>
          <a:prstGeom prst="rect">
            <a:avLst/>
          </a:prstGeom>
          <a:solidFill>
            <a:srgbClr val="0D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378440" y="4681728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C4899"/>
                </a:solidFill>
              </a:rPr>
              <a:t>Employee wellness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5048" y="507492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Employers can offer anonymous vitamin deficiency screening as part of corporate health initiatives to improve workforce productivity.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B5"/>
                </a:solidFill>
              </a:rPr>
              <a:t>FUTURE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Roadmap for the Next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1463040" cy="38404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2801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E40"/>
                </a:solidFill>
              </a:rPr>
              <a:t>Near-Term (0–6 months)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11457432" cy="27432"/>
          </a:xfrm>
          <a:prstGeom prst="rect">
            <a:avLst/>
          </a:prstGeom>
          <a:solidFill>
            <a:srgbClr val="24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5577840" cy="117043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54864" cy="1170432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84708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Real EHR Data Partnership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21284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Collaborate with a clinic or hospital to gather de-identified patient records for re-training and validation on real-world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5577840" cy="117043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54864" cy="1170432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184708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SHAP Explainability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21284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Add SHAP (SHapley Additive exPlanations) values so clinicians can see exactly which features drove each prediction.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36391"/>
            <a:ext cx="1463040" cy="384048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154679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15467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B5"/>
                </a:solidFill>
              </a:rPr>
              <a:t>Mid-Term (6–18 months)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66159"/>
            <a:ext cx="11457432" cy="27432"/>
          </a:xfrm>
          <a:prstGeom prst="rect">
            <a:avLst/>
          </a:prstGeom>
          <a:solidFill>
            <a:srgbClr val="24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657599"/>
            <a:ext cx="5577840" cy="117043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657599"/>
            <a:ext cx="54864" cy="117043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721607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Multi-Label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0873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Redesign the output layer to support simultaneous multi-deficiency diagnosis — reflecting real clinical complexity.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657599"/>
            <a:ext cx="5577840" cy="117043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657599"/>
            <a:ext cx="54864" cy="117043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3721607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Severity 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0873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Replace binary symptom flags with a 1–5 severity scale for finer-grained patient risk stratification.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010912"/>
            <a:ext cx="146304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5029199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502919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Long-Term (18+ months)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440679"/>
            <a:ext cx="11457432" cy="27432"/>
          </a:xfrm>
          <a:prstGeom prst="rect">
            <a:avLst/>
          </a:prstGeom>
          <a:solidFill>
            <a:srgbClr val="24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5532120"/>
            <a:ext cx="5577840" cy="117043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5532120"/>
            <a:ext cx="54864" cy="1170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5596127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Mobile App (iOS / Android)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96188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Build a cross-platform mobile app for point-of-care use in rural clinics and community health programs.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532120"/>
            <a:ext cx="5577840" cy="1170432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17920" y="5532120"/>
            <a:ext cx="54864" cy="1170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19088" y="5596127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Continuous Learning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596188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Implement online learning so the model updates incrementally as new validated patient data is submitted.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492240"/>
            <a:ext cx="11457432" cy="530352"/>
          </a:xfrm>
          <a:prstGeom prst="rect">
            <a:avLst/>
          </a:prstGeom>
          <a:solidFill>
            <a:srgbClr val="0D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65760" y="6492240"/>
            <a:ext cx="11457432" cy="36576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6556248"/>
            <a:ext cx="11274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D6E8"/>
                </a:solidFill>
              </a:rPr>
              <a:t>🎯  Vision: A clinically validated, explainable, multi-label vitamin deficiency AI — accessible to any patient, anywhere, on any device.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73152" cy="6858000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8720" y="2331720"/>
            <a:ext cx="2194560" cy="2194560"/>
          </a:xfrm>
          <a:prstGeom prst="ellipse">
            <a:avLst/>
          </a:prstGeom>
          <a:solidFill>
            <a:srgbClr val="14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39" y="548640"/>
            <a:ext cx="731520" cy="731520"/>
          </a:xfrm>
          <a:prstGeom prst="ellipse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520440" y="5623560"/>
            <a:ext cx="640080" cy="640080"/>
          </a:xfrm>
          <a:prstGeom prst="ellipse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2606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7315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E40"/>
                </a:solidFill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14300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920240"/>
            <a:ext cx="6766560" cy="749808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1920240"/>
            <a:ext cx="64008" cy="74980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E40"/>
                </a:solidFill>
              </a:rPr>
              <a:t>92.4% accuracy: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322576"/>
            <a:ext cx="6309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Random Forest outperformed all other models tested on this dataset.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816352"/>
            <a:ext cx="6766560" cy="749808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0" y="2816352"/>
            <a:ext cx="64008" cy="749808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0" y="2907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B5"/>
                </a:solidFill>
              </a:rPr>
              <a:t>33 features, 9 classes: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18688"/>
            <a:ext cx="6309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Comprehensive input scope enables nuanced multi-class diagnosis.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712464"/>
            <a:ext cx="6766560" cy="749808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0" y="3712464"/>
            <a:ext cx="64008" cy="7498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38039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Clinical-ready UI: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114800"/>
            <a:ext cx="6309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Streamlit app designed for usability by non-technical healthcare staff.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4608576"/>
            <a:ext cx="6766560" cy="749808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0" y="4608576"/>
            <a:ext cx="64008" cy="7498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Early detection focus: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5010912"/>
            <a:ext cx="6309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Goal is proactive screening, not reactive treatment — preventing damage.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5504688"/>
            <a:ext cx="6766560" cy="749808"/>
          </a:xfrm>
          <a:prstGeom prst="rect">
            <a:avLst/>
          </a:prstGeom>
          <a:solidFill>
            <a:srgbClr val="1E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0" y="5504688"/>
            <a:ext cx="64008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12080" y="559612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Open for extension: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5907024"/>
            <a:ext cx="6309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Architecture is modular; real data and new features can be plugged 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1536</Words>
  <Application>Microsoft Office PowerPoint</Application>
  <PresentationFormat>Custom</PresentationFormat>
  <Paragraphs>293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Varun Lautkar</cp:lastModifiedBy>
  <cp:revision>2</cp:revision>
  <dcterms:created xsi:type="dcterms:W3CDTF">2013-01-27T09:14:16Z</dcterms:created>
  <dcterms:modified xsi:type="dcterms:W3CDTF">2026-05-10T19:10:50Z</dcterms:modified>
  <cp:category/>
</cp:coreProperties>
</file>